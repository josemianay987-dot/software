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18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384048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1280160"/>
            <a:ext cx="14630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0" b="1" i="0">
                <a:solidFill>
                  <a:srgbClr val="4F46E5"/>
                </a:solidFill>
                <a:latin typeface="Calibri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KNOWTIFY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E0E7FF"/>
                </a:solidFill>
                <a:latin typeface="Calibri"/>
              </a:rPr>
              <a:t>Plataforma Educativa de Calificación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C7D2FE"/>
                </a:solidFill>
                <a:latin typeface="Calibri"/>
              </a:rPr>
              <a:t>Fase de Diseño  ·  Backend  ·  Frontend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El problema y nuestra solución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Fase de Diseño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Backend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Frontend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Conclusiones</a:t>
            </a:r>
          </a:p>
        </p:txBody>
      </p:sp>
      <p:pic>
        <p:nvPicPr>
          <p:cNvPr id="6" name="Picture 5" descr="01_inicio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Página de inicio de KNOWTIFY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El problema y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Calificar exámenes consume mucho tiempo del docente.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Al estudiante su desempeño le llega tarde y poco claro.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KNOWTIFY une: calificación automática con visión + IA, gestión de notas por periodo y comunicación con el estudiante.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Una sola plataforma, en tiempo real.</a:t>
            </a:r>
          </a:p>
        </p:txBody>
      </p:sp>
      <p:pic>
        <p:nvPicPr>
          <p:cNvPr id="6" name="Picture 5" descr="02_login_doc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Acceso con portales diferenciados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18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103120"/>
            <a:ext cx="5943600" cy="59436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5720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0" b="1" i="0">
                <a:solidFill>
                  <a:srgbClr val="9C95F3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7373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0" i="0">
                <a:solidFill>
                  <a:srgbClr val="0F172A"/>
                </a:solidFill>
                <a:latin typeface="Noto Color Emoji"/>
              </a:rP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libri"/>
              </a:rPr>
              <a:t>Fase de 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E0E7FF"/>
                </a:solidFill>
                <a:latin typeface="Calibri"/>
              </a:rPr>
              <a:t>Cómo pensamos el sistema antes de programarlo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764792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5349240"/>
            <a:ext cx="2080260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Modelo de datos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1516" y="5349240"/>
            <a:ext cx="1239012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UI / 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5349240"/>
            <a:ext cx="1449324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Motor OMR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Arquitectura: 3 capas + servicios de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00400" cy="1920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/>
            <a:r>
              <a:rPr sz="1300" b="0" i="0">
                <a:solidFill>
                  <a:srgbClr val="E0E7FF"/>
                </a:solidFill>
                <a:latin typeface="Calibri"/>
              </a:rPr>
              <a:t>Next.js · React
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011680"/>
            <a:ext cx="320040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300" b="0" i="0">
                <a:solidFill>
                  <a:srgbClr val="E0E7FF"/>
                </a:solidFill>
                <a:latin typeface="Calibri"/>
              </a:rPr>
              <a:t>FastAPI · OMR · IA
Autenticación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32004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BASE DE DATOS</a:t>
            </a:r>
          </a:p>
          <a:p>
            <a:pPr algn="ctr"/>
            <a:r>
              <a:rPr sz="1300" b="0" i="0">
                <a:solidFill>
                  <a:srgbClr val="E0E7FF"/>
                </a:solidFill>
                <a:latin typeface="Calibri"/>
              </a:rPr>
              <a:t>PostgreSQL
8 tablas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2807208"/>
            <a:ext cx="777240" cy="3291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138160" y="2807208"/>
            <a:ext cx="777240" cy="3291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54480"/>
            <a:ext cx="14173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334155"/>
                </a:solidFill>
                <a:latin typeface="Calibri"/>
              </a:rPr>
              <a:t>API REST (JSON · JWT)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480560"/>
            <a:ext cx="3017520" cy="640080"/>
          </a:xfrm>
          <a:prstGeom prst="roundRect">
            <a:avLst/>
          </a:prstGeom>
          <a:gradFill rotWithShape="1">
            <a:gsLst>
              <a:gs pos="0">
                <a:srgbClr val="7C3AED"/>
              </a:gs>
              <a:gs pos="100000">
                <a:srgbClr val="4F46E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Google Gemini (IA + visión)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64748B"/>
                </a:solidFill>
                <a:latin typeface="Calibri"/>
              </a:rPr>
              <a:t>Capas separadas: la interfaz y el servidor evolucionan por separado; la lógica sensible y la IA viven siempre en el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Diseño del 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8 entidades modeladas con SQLAlchemy sobre PostgreSQL.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Notas por las 3 dimensiones: Saber, Hacer y Ser.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Cálculo automático de la nota final y el nivel de desempeño.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Identificadores UUID y campos JSONB para respuestas.</a:t>
            </a:r>
          </a:p>
        </p:txBody>
      </p:sp>
      <p:pic>
        <p:nvPicPr>
          <p:cNvPr id="6" name="Picture 5" descr="04_modelado_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17200"/>
            <a:ext cx="6858000" cy="315511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Entidades Estudiante y Notas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Diseño de la interfaz y del motor OMR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Dos portales por color: docente (índigo) y estudiante (violeta).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Modo claro/oscuro y ayuda contextual integrada.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Hoja con fiduciales en las esquinas para corregir la foto.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Identificación del estudiante por su NOMBRE escrito (con IA).</a:t>
            </a:r>
          </a:p>
        </p:txBody>
      </p:sp>
      <p:pic>
        <p:nvPicPr>
          <p:cNvPr id="6" name="Picture 5" descr="01_hoja_respue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24" y="1554480"/>
            <a:ext cx="3165751" cy="448056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Hoja de respuestas diseñada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18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103120"/>
            <a:ext cx="5943600" cy="59436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5720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0" b="1" i="0">
                <a:solidFill>
                  <a:srgbClr val="9C95F3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7373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0" i="0">
                <a:solidFill>
                  <a:srgbClr val="0F172A"/>
                </a:solidFill>
                <a:latin typeface="Noto Color Emoji"/>
              </a:rP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E0E7FF"/>
                </a:solidFill>
                <a:latin typeface="Calibri"/>
              </a:rPr>
              <a:t>El cerebro: API, datos, visión por computador, IA y seguridad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344168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API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5349240"/>
            <a:ext cx="1449324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Motor OMR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9956" y="5349240"/>
            <a:ext cx="1449324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IA Gemini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5349240"/>
            <a:ext cx="1449324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API REST con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~30 endpoints REST en formato JSON.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Operaciones asíncronas para subir archivos y consultar notas.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Documentación interactiva (Swagger) generada automáticamente.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Validación de datos con Pydantic.</a:t>
            </a:r>
          </a:p>
        </p:txBody>
      </p:sp>
      <p:pic>
        <p:nvPicPr>
          <p:cNvPr id="6" name="Picture 5" descr="01_swagger_docum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596" y="1554480"/>
            <a:ext cx="6452006" cy="448056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Swagger UI de la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Motor de calificación OMR (OpenCV)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Corrige la perspectiva de la foto y normaliza la imagen.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Mide el relleno de cada burbuja A/B/C/D.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Compara con la clave (JSON); acepta foto y PDF.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≈30 ms por hoja, sin internet, escala 1.0–5.0.</a:t>
            </a:r>
          </a:p>
        </p:txBody>
      </p:sp>
      <p:pic>
        <p:nvPicPr>
          <p:cNvPr id="6" name="Picture 5" descr="03_calificacion_masiva_o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16560"/>
            <a:ext cx="6858000" cy="275639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Lectura de marcas y cálculo de nota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Inteligencia Artificial (Gemini)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Identifica el nombre manuscrito de cada hoja.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Genera exámenes de opción múltiple por tema.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Potencia el Tutor IA del estudiante.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Empareja nombres tolerando tildes y mayúsculas.</a:t>
            </a:r>
          </a:p>
        </p:txBody>
      </p:sp>
      <p:pic>
        <p:nvPicPr>
          <p:cNvPr id="6" name="Picture 5" descr="01_integracion_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95649"/>
            <a:ext cx="6858000" cy="299822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Integración con Gemini (visión)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Seguridad y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Autenticación con tokens JWT.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Contraseñas cifradas con bcrypt.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Acceso por roles (docente / estudiante).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Mensajería en tiempo real con WebSockets.</a:t>
            </a:r>
          </a:p>
        </p:txBody>
      </p:sp>
      <p:pic>
        <p:nvPicPr>
          <p:cNvPr id="6" name="Picture 5" descr="06_middleware_autent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72156"/>
            <a:ext cx="6858000" cy="224520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Middleware de acceso por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18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103120"/>
            <a:ext cx="5943600" cy="59436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5720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0" b="1" i="0">
                <a:solidFill>
                  <a:srgbClr val="9C95F3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7373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0" i="0">
                <a:solidFill>
                  <a:srgbClr val="0F172A"/>
                </a:solidFill>
                <a:latin typeface="Noto Color Emoji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0">
                <a:solidFill>
                  <a:srgbClr val="E0E7FF"/>
                </a:solidFill>
                <a:latin typeface="Calibri"/>
              </a:rPr>
              <a:t>Lo que ve el usuario: experiencia y diseño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975104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Portal docente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349240"/>
            <a:ext cx="2290572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Portal estudiante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2140" y="5349240"/>
            <a:ext cx="1344168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Tutor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2340" y="5349240"/>
            <a:ext cx="1554480" cy="502920"/>
          </a:xfrm>
          <a:prstGeom prst="round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Responsive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Portal del docente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Next.js 16, React 19 y Tailwind CSS.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Planilla de notas con alertas de color (verde a rojo).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Edición directa y exportación a Excel y PDF.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Tarjetas de resumen: estudiantes, promedio y riesgo.</a:t>
            </a:r>
          </a:p>
        </p:txBody>
      </p:sp>
      <p:pic>
        <p:nvPicPr>
          <p:cNvPr id="6" name="Picture 5" descr="01_no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Planilla del docente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Calificador y generador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Sube hojas escaneadas o una foto y califica solo.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Identifica al estudiante por su nombre.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Genera exámenes con IA escribiendo solo el tema.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Reutiliza la clave en el lector OMR.</a:t>
            </a:r>
          </a:p>
        </p:txBody>
      </p:sp>
      <p:pic>
        <p:nvPicPr>
          <p:cNvPr id="6" name="Picture 5" descr="03_calificar_o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Calificador masivo (OMR / 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Portal del estudiante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Promedio general y nivel de desempeño.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Gráfica de evolución de notas por periodo.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Próximos eventos del calendario.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Detalle de resultados por periodo.</a:t>
            </a:r>
          </a:p>
        </p:txBody>
      </p:sp>
      <p:pic>
        <p:nvPicPr>
          <p:cNvPr id="6" name="Picture 5" descr="01_tabl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Tablero del estudiante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Tutor IA 24/7 y mensajería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Tutor virtual que explica temas con ejemplos.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Respuestas con formato claro (Markdown).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Mensajería directa con el docente en tiempo real.</a:t>
            </a:r>
          </a:p>
        </p:txBody>
      </p:sp>
      <p:pic>
        <p:nvPicPr>
          <p:cNvPr id="6" name="Picture 5" descr="06_tutor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60807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Tutor IA respondiendo una 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Diseño responsive y modo oscuro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Funciona en computador y en celular.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Modo oscuro para cuidar la salud visual.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Cliente HTTP central: token y errores en un solo lugar.</a:t>
            </a:r>
          </a:p>
        </p:txBody>
      </p:sp>
      <p:pic>
        <p:nvPicPr>
          <p:cNvPr id="6" name="Picture 5" descr="02_tablero_modo_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83205"/>
            <a:ext cx="3383280" cy="21145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7" name="Picture 6" descr="03_tablero_mov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512" y="1554480"/>
            <a:ext cx="2112654" cy="4572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937760" y="612648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Modo oscuro (izq.) y versión móvil (der.)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0" y="384048"/>
            <a:ext cx="36576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F46E5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KNOWTIFY automatiza la calificación y centraliza la gestión académica.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Le ahorra tiempo al docente y da claridad al estudiante.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Diseño desacoplado: backend y frontend escalan por separado.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Visión por computador + IA aplicadas a un problema real del aula.</a:t>
            </a:r>
          </a:p>
        </p:txBody>
      </p:sp>
      <p:pic>
        <p:nvPicPr>
          <p:cNvPr id="6" name="Picture 5" descr="01_tabl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51635"/>
            <a:ext cx="6858000" cy="42862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24160" y="638251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KNOWTIFY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18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023360"/>
            <a:ext cx="4114800" cy="41148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oto Color Emoji"/>
              </a:rPr>
              <a:t>¡Gracias! 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
                  <a:srgbClr val="E0E7FF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